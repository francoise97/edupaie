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EduPaie</a:t>
            </a:r>
          </a:p>
          <a:p>
            <a:pPr algn="ctr">
              <a:defRPr sz="2800">
                <a:solidFill>
                  <a:srgbClr val="DBEAFE"/>
                </a:solidFill>
              </a:defRPr>
            </a:pPr>
            <a:r>
              <a:t>Gestion des paiements scolaires</a:t>
            </a:r>
          </a:p>
          <a:p>
            <a:pPr>
              <a:defRPr sz="1400"/>
            </a:pPr>
          </a:p>
          <a:p>
            <a:pPr algn="ctr">
              <a:defRPr sz="1800">
                <a:solidFill>
                  <a:srgbClr val="93C5FD"/>
                </a:solidFill>
              </a:defRPr>
            </a:pPr>
            <a:r>
              <a:t>Francoise97  |  04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Calibri"/>
              </a:defRPr>
            </a:pPr>
            <a:r>
              <a:t>Un probleme reel dans les etablissements scolaires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  <a:latin typeface="Calibri"/>
              </a:defRPr>
            </a:pPr>
            <a:r>
              <a:t>❌  Suivi manuel des paiements (cahier, Excel)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  <a:latin typeface="Calibri"/>
              </a:defRPr>
            </a:pPr>
            <a:r>
              <a:t>❌  Aucune vue fiable sur qui a paye quoi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  <a:latin typeface="Calibri"/>
              </a:defRPr>
            </a:pPr>
            <a:r>
              <a:t>❌  Reçus non numerotes, impossibles a retrouver en cas de litige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  <a:latin typeface="Calibri"/>
              </a:defRPr>
            </a:pPr>
            <a:r>
              <a:t>❌  Aucun calcul automatique du solde restant du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Calibri"/>
              </a:defRPr>
            </a:pPr>
            <a:r>
              <a:t>Automatiser la gestion des paiements scolaires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  <a:latin typeface="Calibri"/>
              </a:defRPr>
            </a:pPr>
            <a:r>
              <a:t>✅  Enregistrer chaque eleve et ses frais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  <a:latin typeface="Calibri"/>
              </a:defRPr>
            </a:pPr>
            <a:r>
              <a:t>✅  Enregistrer chaque paiement avec validation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  <a:latin typeface="Calibri"/>
              </a:defRPr>
            </a:pPr>
            <a:r>
              <a:t>✅  Calculer automatiquement le solde restant du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  <a:latin typeface="Calibri"/>
              </a:defRPr>
            </a:pPr>
            <a:r>
              <a:t>✅  Generer un recu numerote unique a chaque versement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  <a:latin typeface="Calibri"/>
              </a:defRPr>
            </a:pPr>
            <a:r>
              <a:t>✅  Offrir une interface simple a utiliser (secretaire)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Fonctionnalites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Calibri"/>
              </a:defRPr>
            </a:pPr>
            <a:r>
              <a:t>6 ecrans principaux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004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TABLEAU DE BORD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Statistiques temps reel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011680"/>
            <a:ext cx="32004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ELEVES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CRUD + recherche + filtres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011680"/>
            <a:ext cx="32004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FICHE ELEVE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Historique + situation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32004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PAIEMENTS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Enregistrement +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840480"/>
            <a:ext cx="32004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RECUS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Liste + generation 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40480"/>
            <a:ext cx="32004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PARAMETRES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Config centralisee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Calibri"/>
              </a:defRPr>
            </a:pPr>
            <a:r>
              <a:t>3 couches separees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515600" cy="1280160"/>
          </a:xfrm>
          <a:prstGeom prst="roundRect">
            <a:avLst/>
          </a:prstGeom>
          <a:solidFill>
            <a:srgbClr val="DBEAFE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E3A8A"/>
                </a:solidFill>
              </a:defRPr>
            </a:pPr>
            <a:r>
              <a:t>INTERFACE (PySide6)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widgets/ · dialogs/ · main_window.py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10515600" cy="1280160"/>
          </a:xfrm>
          <a:prstGeom prst="roundRect">
            <a:avLst/>
          </a:prstGeom>
          <a:solidFill>
            <a:srgbClr val="D1FAE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LOGIQUE METIER (Services)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calcul du solde · validation · numerotation recus · generation PDF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515600" cy="1280160"/>
          </a:xfrm>
          <a:prstGeom prst="roundRect">
            <a:avLst/>
          </a:prstGeom>
          <a:solidFill>
            <a:srgbClr val="FEE2E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ACCES DONNEES (Repositories)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SQL encapsule · aucune requete dans l'UI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Base de donnees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Calibri"/>
              </a:defRPr>
            </a:pPr>
            <a:r>
              <a:t>SQLite - 3 tables + 1 vue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📋  Table eleve : id, nom, prenom, classe, annee_scolaire, frais_totaux, telephone, nom_parent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📋  Table recu : id, numero_unique (REC-AAAA-NNN), annee, sequence, montant_paye, solde_apres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📋  Table paiement : id, eleve_id, recu_id, montant, date_paiement, mode_paiement, reference, observation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🔍  Vue vue_solde_eleve : calcule automatiquement total_paye, solde_restant et statut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🔒  Contraintes : CHECK (montant &gt; 0), UNIQUE(annee, sequence), FK avec ON DELETE CASCADE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Regles metier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Calibri"/>
              </a:defRPr>
            </a:pPr>
            <a:r>
              <a:t>Garanties et validations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  <a:latin typeface="Calibri"/>
              </a:defRPr>
            </a:pPr>
            <a:r>
              <a:t>💰  Calcul du solde  :  solde = frais_totaux - somme(paiements)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  <a:latin typeface="Calibri"/>
              </a:defRPr>
            </a:pPr>
            <a:r>
              <a:t>🚫  Le solde ne peut JAMAIS etre negatif (validation avant enregistrement)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  <a:latin typeface="Calibri"/>
              </a:defRPr>
            </a:pPr>
            <a:r>
              <a:t>📄  Numerotation unique des recus : REC-{ANNEE}-{NUMERO:03d}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  <a:latin typeface="Calibri"/>
              </a:defRPr>
            </a:pPr>
            <a:r>
              <a:t>   → La sequence repart a 001 chaque annee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  <a:latin typeface="Calibri"/>
              </a:defRPr>
            </a:pPr>
            <a:r>
              <a:t>✅  Transaction atomique : recu + paiement crees ensemble (rollback si erreur)</a:t>
            </a: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  <a:latin typeface="Calibri"/>
              </a:defRPr>
            </a:pPr>
            <a:r>
              <a:t>🎯  Statuts : Non paye (0) / Partiellement paye / Solde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Choix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Calibri"/>
              </a:defRPr>
            </a:pPr>
            <a:r>
              <a:t>Pourquoi ces technologies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0040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E3A8A"/>
                </a:solidFill>
              </a:defRPr>
            </a:pPr>
            <a:r>
              <a:t>SQLite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Aucun serveur a installer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Fichier unique portable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Module sqlite3 standard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Parfait pour du mono-poste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828800"/>
            <a:ext cx="320040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PySide6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Framework Qt moderne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Signaux / slots clairs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Look natif Windows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Licence LGPL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828800"/>
            <a:ext cx="320040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reportlab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PDF de qualite pro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Controle total mise en page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Licence BSD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Reference du marche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Demonstration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Calibri"/>
              </a:defRPr>
            </a:pPr>
            <a:r>
              <a:t>Passons a la pratique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E3A8A"/>
                </a:solidFill>
                <a:latin typeface="Calibri"/>
              </a:defRPr>
            </a:pPr>
            <a:r>
              <a:t>🎬  Nous allons maintenant voir l'application en fonctionnement</a:t>
            </a:r>
          </a:p>
          <a:p>
            <a:pPr>
              <a:spcAft>
                <a:spcPts val="800"/>
              </a:spcAft>
              <a:defRPr sz="2000" b="0">
                <a:solidFill>
                  <a:srgbClr val="1E3A8A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 b="0">
                <a:solidFill>
                  <a:srgbClr val="1E3A8A"/>
                </a:solidFill>
                <a:latin typeface="Calibri"/>
              </a:defRPr>
            </a:pPr>
            <a:r>
              <a:t>   → Ajout d'un eleve</a:t>
            </a:r>
          </a:p>
          <a:p>
            <a:pPr>
              <a:spcAft>
                <a:spcPts val="800"/>
              </a:spcAft>
              <a:defRPr sz="2000" b="0">
                <a:solidFill>
                  <a:srgbClr val="1E3A8A"/>
                </a:solidFill>
                <a:latin typeface="Calibri"/>
              </a:defRPr>
            </a:pPr>
            <a:r>
              <a:t>   → Enregistrement d'un paiement</a:t>
            </a:r>
          </a:p>
          <a:p>
            <a:pPr>
              <a:spcAft>
                <a:spcPts val="800"/>
              </a:spcAft>
              <a:defRPr sz="2000" b="0">
                <a:solidFill>
                  <a:srgbClr val="1E3A8A"/>
                </a:solidFill>
                <a:latin typeface="Calibri"/>
              </a:defRPr>
            </a:pPr>
            <a:r>
              <a:t>   → Generation du recu PDF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Chiffres 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Calibri"/>
              </a:defRPr>
            </a:pPr>
            <a:r>
              <a:t>Bilan du projet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004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4748B"/>
                </a:solidFill>
              </a:defRPr>
            </a:pPr>
            <a:r>
              <a:t>COMMITS GIT</a:t>
            </a:r>
          </a:p>
          <a:p>
            <a:r>
              <a:t>25</a:t>
            </a:r>
          </a:p>
          <a:p>
            <a:pPr algn="ctr">
              <a:defRPr sz="2200" b="1">
                <a:solidFill>
                  <a:srgbClr val="1E3A8A"/>
                </a:solidFill>
              </a:defRPr>
            </a:pPr>
            <a: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011680"/>
            <a:ext cx="32004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4748B"/>
                </a:solidFill>
              </a:defRPr>
            </a:pPr>
            <a:r>
              <a:t>BRANCHES</a:t>
            </a:r>
          </a:p>
          <a:p>
            <a:r>
              <a:t>10</a:t>
            </a:r>
          </a:p>
          <a:p>
            <a:pPr algn="ctr">
              <a:defRPr sz="2200" b="1">
                <a:solidFill>
                  <a:srgbClr val="10B981"/>
                </a:solidFill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011680"/>
            <a:ext cx="32004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4748B"/>
                </a:solidFill>
              </a:defRPr>
            </a:pPr>
            <a:r>
              <a:t>LIGNES DE CODE</a:t>
            </a:r>
          </a:p>
          <a:p>
            <a:r>
              <a:t>~2500</a:t>
            </a:r>
          </a:p>
          <a:p>
            <a:pPr algn="ctr">
              <a:defRPr sz="2200" b="1">
                <a:solidFill>
                  <a:srgbClr val="F59E0B"/>
                </a:solidFill>
              </a:defRPr>
            </a:pPr>
            <a:r>
              <a:t>~2500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32004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4748B"/>
                </a:solidFill>
              </a:defRPr>
            </a:pPr>
            <a:r>
              <a:t>ECRANS</a:t>
            </a:r>
          </a:p>
          <a:p>
            <a:r>
              <a:t>6</a:t>
            </a:r>
          </a:p>
          <a:p>
            <a:pPr algn="ctr">
              <a:defRPr sz="2200" b="1">
                <a:solidFill>
                  <a:srgbClr val="2563EB"/>
                </a:solidFill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840480"/>
            <a:ext cx="32004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4748B"/>
                </a:solidFill>
              </a:defRPr>
            </a:pPr>
            <a:r>
              <a:t>ELEVES EN BASE</a:t>
            </a:r>
          </a:p>
          <a:p>
            <a:r>
              <a:t>18</a:t>
            </a:r>
          </a:p>
          <a:p>
            <a:pPr algn="ctr">
              <a:defRPr sz="2200" b="1">
                <a:solidFill>
                  <a:srgbClr val="10B981"/>
                </a:solidFill>
              </a:defRPr>
            </a:pPr>
            <a: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40480"/>
            <a:ext cx="32004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4748B"/>
                </a:solidFill>
              </a:defRPr>
            </a:pPr>
            <a:r>
              <a:t>TESTS</a:t>
            </a:r>
          </a:p>
          <a:p>
            <a:r>
              <a:t>3</a:t>
            </a:r>
          </a:p>
          <a:p>
            <a:pPr algn="ctr">
              <a:defRPr sz="2200" b="1">
                <a:solidFill>
                  <a:srgbClr val="EF444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Calibri"/>
              </a:defRPr>
            </a:pPr>
            <a:r>
              <a:t>Limites &amp; evolutions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Calibri"/>
              </a:defRPr>
            </a:pPr>
            <a:r>
              <a:t>Ce qu'on pourrait ameliorer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⚠️  Limites actuelles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•  Application mono-poste (pas de reseau)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•  Pas d'authentification utilisateurs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•  Pas d'export Excel / CSV</a:t>
            </a:r>
          </a:p>
          <a:p>
            <a:pPr>
              <a:spcAft>
                <a:spcPts val="800"/>
              </a:spcAft>
              <a:defRPr sz="1400" b="0">
                <a:solidFill>
                  <a:srgbClr val="1E293B"/>
                </a:solidFill>
                <a:latin typeface="Calibri"/>
              </a:defRPr>
            </a:pPr>
            <a:r>
              <a:t>•  Pas de montant en lettres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0B981"/>
                </a:solidFill>
                <a:latin typeface="Calibri"/>
              </a:defRPr>
            </a:pPr>
            <a:r>
              <a:t>🚀  Evolutions possibles</a:t>
            </a:r>
          </a:p>
          <a:p>
            <a:pPr>
              <a:spcAft>
                <a:spcPts val="800"/>
              </a:spcAft>
              <a:defRPr sz="1400" b="0">
                <a:solidFill>
                  <a:srgbClr val="10B98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 b="0">
                <a:solidFill>
                  <a:srgbClr val="10B981"/>
                </a:solidFill>
                <a:latin typeface="Calibri"/>
              </a:defRPr>
            </a:pPr>
            <a:r>
              <a:t>•  Multi-utilisateurs (caissier, directeur)</a:t>
            </a:r>
          </a:p>
          <a:p>
            <a:pPr>
              <a:spcAft>
                <a:spcPts val="800"/>
              </a:spcAft>
              <a:defRPr sz="1400" b="0">
                <a:solidFill>
                  <a:srgbClr val="10B981"/>
                </a:solidFill>
                <a:latin typeface="Calibri"/>
              </a:defRPr>
            </a:pPr>
            <a:r>
              <a:t>•  Synchronisation cloud</a:t>
            </a:r>
          </a:p>
          <a:p>
            <a:pPr>
              <a:spcAft>
                <a:spcPts val="800"/>
              </a:spcAft>
              <a:defRPr sz="1400" b="0">
                <a:solidFill>
                  <a:srgbClr val="10B981"/>
                </a:solidFill>
                <a:latin typeface="Calibri"/>
              </a:defRPr>
            </a:pPr>
            <a:r>
              <a:t>•  Envoi recus par email / SMS</a:t>
            </a:r>
          </a:p>
          <a:p>
            <a:pPr>
              <a:spcAft>
                <a:spcPts val="800"/>
              </a:spcAft>
              <a:defRPr sz="1400" b="0">
                <a:solidFill>
                  <a:srgbClr val="10B981"/>
                </a:solidFill>
                <a:latin typeface="Calibri"/>
              </a:defRPr>
            </a:pPr>
            <a:r>
              <a:t>•  Graphiques statistiques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Merci de votre attention</a:t>
            </a:r>
          </a:p>
          <a:p>
            <a:pPr>
              <a:defRPr sz="1400"/>
            </a:pPr>
          </a:p>
          <a:p>
            <a:pPr algn="ctr">
              <a:defRPr sz="2800">
                <a:solidFill>
                  <a:srgbClr val="93C5FD"/>
                </a:solidFill>
              </a:defRPr>
            </a:pPr>
            <a:r>
              <a:t>Des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